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9C2465-0672-4ED4-AFC2-9F387B9424E6}">
  <a:tblStyle styleId="{8A9C2465-0672-4ED4-AFC2-9F387B942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705a8e08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705a8e08b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05a8e08b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705a8e08b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05a8e08b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705a8e08b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QmsiMeBFiGs1q0_M5bemKnCAbaZkQt1F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9875" y="3904825"/>
            <a:ext cx="4472250" cy="127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 flipH="1" rot="10800000">
            <a:off x="2103250" y="1031928"/>
            <a:ext cx="7985400" cy="45600"/>
          </a:xfrm>
          <a:prstGeom prst="roundRect">
            <a:avLst>
              <a:gd fmla="val 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095375" y="1431577"/>
            <a:ext cx="100014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Rozpoznawanie Budynków Kampusu PWr na Podstawie Fragmentów Elewacji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424362" y="5616773"/>
            <a:ext cx="3343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975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POLITECHNIKA WROCŁAWSKA | WROCŁAW 2026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424387" y="4263324"/>
            <a:ext cx="334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Kacper Mikosiński (280985) </a:t>
            </a:r>
            <a:endParaRPr sz="1800">
              <a:solidFill>
                <a:srgbClr val="CBD5E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Oleksandr Nedosiek (275978)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910200" y="2180375"/>
            <a:ext cx="48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Złożoność kampusu</a:t>
            </a:r>
            <a:r>
              <a:rPr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i="0" lang="en-US" sz="15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Duża gęstość i różnorodność stylów architektonicznych PWr utrudniają szybką orientację przestrzenną gościom i studentom.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533350" y="4176712"/>
            <a:ext cx="4872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Założenia początkowe</a:t>
            </a: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15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Budowa autorskiego datasetu, wytrenowanie modelu głębokiego uczenie oraz stworzenie ergonomicznej aplikacji mobilnej.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0750" y="1841100"/>
            <a:ext cx="310896" cy="2849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6528816" y="2180381"/>
            <a:ext cx="48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Ograniczenia GPS</a:t>
            </a:r>
            <a:r>
              <a:rPr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i="0" lang="en-US" sz="15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 Tradycyjna nawigacja satelitarna i mapy topograficzne są niedokładne w pobliżu wysokich fasad akademickich.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1610" y="3834282"/>
            <a:ext cx="329184" cy="2785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4"/>
          <p:cNvGrpSpPr/>
          <p:nvPr/>
        </p:nvGrpSpPr>
        <p:grpSpPr>
          <a:xfrm>
            <a:off x="910200" y="1835125"/>
            <a:ext cx="8200877" cy="3957687"/>
            <a:chOff x="910200" y="1835125"/>
            <a:chExt cx="8200877" cy="3957687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910200" y="4176712"/>
              <a:ext cx="48720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Cel projektu</a:t>
              </a: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5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Automatyczne rozpoznawanie budynków kampusu głównego PWr bezpośrednio na podstawie zdjęć elewacji wykonanych aparatem smartfona.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103" name="Google Shape;10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827613" y="1835125"/>
              <a:ext cx="283464" cy="2969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7613" y="3825075"/>
            <a:ext cx="283464" cy="29696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605800"/>
            <a:ext cx="11581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Wstęp. Zdefiniowanie problemu</a:t>
            </a:r>
            <a:endParaRPr b="1" sz="2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581025" y="3493008"/>
            <a:ext cx="11030100" cy="38100"/>
          </a:xfrm>
          <a:prstGeom prst="rect">
            <a:avLst/>
          </a:prstGeom>
          <a:solidFill>
            <a:srgbClr val="1E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000261" y="3785616"/>
            <a:ext cx="136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Wysyłka HTTP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412033" y="4223766"/>
            <a:ext cx="25368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Transmisja pakietu multipart/form-data POST do serwera FastAPI wykrytego automatycznie przez UDP.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831275" y="1316725"/>
            <a:ext cx="145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243042" y="1754886"/>
            <a:ext cx="25368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Resize/CenterCrop do 256x256, konwersja do tensora PyTorch i normalizacja kanałów barwnych.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742289" y="3785616"/>
            <a:ext cx="12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Inferencja AI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074050" y="4223766"/>
            <a:ext cx="2536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Model CNN wyznacza logity. Próg Softmax 60% odrzuca szum i zwraca obiekt JSON z wydziałem.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74975" y="485775"/>
            <a:ext cx="11581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Architektura Wersji</a:t>
            </a:r>
            <a:r>
              <a:rPr b="1" i="0" lang="en-US" sz="3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1.0</a:t>
            </a:r>
            <a:endParaRPr b="1" sz="355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9" name="Google Shape;119;p15"/>
          <p:cNvGrpSpPr/>
          <p:nvPr/>
        </p:nvGrpSpPr>
        <p:grpSpPr>
          <a:xfrm>
            <a:off x="581025" y="1499616"/>
            <a:ext cx="2536800" cy="2119884"/>
            <a:chOff x="581025" y="1499616"/>
            <a:chExt cx="2536800" cy="2119884"/>
          </a:xfrm>
        </p:grpSpPr>
        <p:sp>
          <p:nvSpPr>
            <p:cNvPr id="120" name="Google Shape;120;p15"/>
            <p:cNvSpPr txBox="1"/>
            <p:nvPr/>
          </p:nvSpPr>
          <p:spPr>
            <a:xfrm>
              <a:off x="1049238" y="1499616"/>
              <a:ext cx="16002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Akwizycja klatek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581025" y="1937766"/>
              <a:ext cx="25368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500" u="none" cap="none" strike="noStrike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Flutter Live Scanner</a:t>
              </a:r>
              <a:r>
                <a:rPr i="0" lang="en-US" sz="1500" u="none" cap="none" strike="noStrike">
                  <a:solidFill>
                    <a:srgbClr val="94A3B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pobiera klatki z kamery, kompresuje i optymalizuje je asynchronicznie w locie.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1754162" y="3429000"/>
              <a:ext cx="190500" cy="1905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 cap="flat" cmpd="sng" w="38100">
              <a:solidFill>
                <a:srgbClr val="090D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3" name="Google Shape;123;p15"/>
          <p:cNvSpPr/>
          <p:nvPr/>
        </p:nvSpPr>
        <p:spPr>
          <a:xfrm>
            <a:off x="4585171" y="3429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 cap="flat" cmpd="sng" w="38100">
            <a:solidFill>
              <a:srgbClr val="090D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416179" y="3429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 cap="flat" cmpd="sng" w="38100">
            <a:solidFill>
              <a:srgbClr val="090D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0247188" y="3429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 cap="flat" cmpd="sng" w="38100">
            <a:solidFill>
              <a:srgbClr val="090D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674975" y="485775"/>
            <a:ext cx="11581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Praktyka - serwer</a:t>
            </a:r>
            <a:endParaRPr b="1" sz="355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1" name="Google Shape;131;p16"/>
          <p:cNvGrpSpPr/>
          <p:nvPr/>
        </p:nvGrpSpPr>
        <p:grpSpPr>
          <a:xfrm>
            <a:off x="1196851" y="1480713"/>
            <a:ext cx="9798300" cy="3896571"/>
            <a:chOff x="1858375" y="1397700"/>
            <a:chExt cx="6718988" cy="2671812"/>
          </a:xfrm>
        </p:grpSpPr>
        <p:pic>
          <p:nvPicPr>
            <p:cNvPr id="132" name="Google Shape;13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58375" y="1397700"/>
              <a:ext cx="6718988" cy="26718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83664" y="3858768"/>
              <a:ext cx="3913632" cy="2055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674975" y="485775"/>
            <a:ext cx="11581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Praktyka - aplikacja</a:t>
            </a:r>
            <a:endParaRPr b="1" sz="355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17" title="dzialanie_aplikacji_v1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8450" y="19663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7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35025"/>
            <a:ext cx="5300650" cy="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816352"/>
            <a:ext cx="5303519" cy="126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98848"/>
            <a:ext cx="5300662" cy="1024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0300" y="1335024"/>
            <a:ext cx="5300675" cy="41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81050" y="1496949"/>
            <a:ext cx="490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DOKŁADNOŚĆ OGÓLNA (ACCURACY)</a:t>
            </a:r>
            <a:endParaRPr i="0" sz="1500" u="none" cap="none" strike="noStrike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Accuracy = (TP+TN)/(TP+TN+FP+FN) 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781050" y="2978277"/>
            <a:ext cx="4900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PRECYZJA &amp; CZUŁOŚĆ (PRECISION / RECALL)</a:t>
            </a:r>
            <a:endParaRPr i="0" sz="1500" u="none" cap="none" strike="noStrike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Precision = TP/(TP+FP)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Recall = TP/(TP+FN)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781050" y="4660773"/>
            <a:ext cx="490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WYNIK F1 (F1-SCORE)</a:t>
            </a:r>
            <a:endParaRPr sz="15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F1-score = 2*(Precision*Recall)/(Precision+Recall)</a:t>
            </a:r>
            <a:endParaRPr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6958012" y="1466850"/>
            <a:ext cx="45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Środowisko Badawcze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150876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843712" y="1838325"/>
            <a:ext cx="4424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Zbiór testowy: 1000 odizolowanych, zbalansowanych fotografii (po 100 dla każdej z 10 klas).</a:t>
            </a:r>
            <a:endParaRPr sz="150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843712" y="2962656"/>
            <a:ext cx="442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Brak IoU: Zgodnie ze specyfikacją systemu 1.0, miara IoU została wyeliminowana, gdyż model klasyfikuje cały obraz zamiast rysować ramki (bounding boxes).</a:t>
            </a:r>
            <a:endParaRPr sz="150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843712" y="4370832"/>
            <a:ext cx="4424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Wyznaczenie FPS: Mierzone jako suma czasu akwizycji/kompresji, transmisji sieciowej HTTP oraz inferencji GPU CUDA.</a:t>
            </a:r>
            <a:endParaRPr sz="1500">
              <a:solidFill>
                <a:srgbClr val="CBD5E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653212" y="1819275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653212" y="2944368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653212" y="4352544"/>
            <a:ext cx="9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48577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Metodyka i Metryki Walidacji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581025" y="48577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Wyniki Ewaluacji na Zbiorze Testowym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66" name="Google Shape;166;p19"/>
          <p:cNvGraphicFramePr/>
          <p:nvPr/>
        </p:nvGraphicFramePr>
        <p:xfrm>
          <a:off x="952500" y="1250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{8A9C2465-0672-4ED4-AFC2-9F387B9424E6}</a:tableStyleId>
              </a:tblPr>
              <a:tblGrid>
                <a:gridCol w="2711375"/>
                <a:gridCol w="2299050"/>
                <a:gridCol w="1957900"/>
                <a:gridCol w="2156900"/>
                <a:gridCol w="1161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Klasa (Budynek PWr)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7F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Precyzja (Precision)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7F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Czułość (Recall)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7F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Wynik F1 (F1-Score)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7F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Wsparcie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7FE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D-20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0.86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0.83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0.85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C-13 ("Serowiec")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0.75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0.79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0.77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>
                        <a:alpha val="6909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C-3</a:t>
                      </a: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/</a:t>
                      </a: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0.71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0.74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0.73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A-1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0.72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0.69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C-18 (Podobny do C-16)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>
                        <a:alpha val="830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0.82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>
                        <a:alpha val="830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>
                        <a:alpha val="830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0.55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>
                        <a:alpha val="8303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4444">
                        <a:alpha val="8303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C-16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0.49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0.75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0.59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C-1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0.53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0.83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0.64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C-7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0.85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0.63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0.72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D-1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0.82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0.66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0.73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H-6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0.69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0.57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0.62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</a:t>
                      </a:r>
                      <a:endParaRPr i="0" sz="15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Macro Avg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0.72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0.69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0.69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1000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Globalne Accuracy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69.0% (690 / 1000)</a:t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1000</a:t>
                      </a:r>
                      <a:endParaRPr b="1"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1161288" y="4526280"/>
            <a:ext cx="108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Główny punkt pomyłek</a:t>
            </a: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: niska czułość dla C-18 - model pomylił go z C-16 aż 33 razy. Podobnie dla H-6: mylił się on z C-3/4 22 razy.</a:t>
            </a:r>
            <a:endParaRPr b="1" sz="105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051560" y="4526280"/>
            <a:ext cx="38100" cy="4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81025" y="48577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Analiza Czułości Modelu i P</a:t>
            </a:r>
            <a:r>
              <a:rPr b="1"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omyłek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1107625" y="2470188"/>
            <a:ext cx="10569050" cy="400200"/>
            <a:chOff x="1107625" y="2470188"/>
            <a:chExt cx="10569050" cy="400200"/>
          </a:xfrm>
        </p:grpSpPr>
        <p:grpSp>
          <p:nvGrpSpPr>
            <p:cNvPr id="176" name="Google Shape;176;p20"/>
            <p:cNvGrpSpPr/>
            <p:nvPr/>
          </p:nvGrpSpPr>
          <p:grpSpPr>
            <a:xfrm>
              <a:off x="2989875" y="2508225"/>
              <a:ext cx="8686800" cy="324125"/>
              <a:chOff x="2908575" y="5650050"/>
              <a:chExt cx="8686800" cy="324125"/>
            </a:xfrm>
          </p:grpSpPr>
          <p:sp>
            <p:nvSpPr>
              <p:cNvPr id="177" name="Google Shape;177;p20"/>
              <p:cNvSpPr/>
              <p:nvPr/>
            </p:nvSpPr>
            <p:spPr>
              <a:xfrm>
                <a:off x="2908575" y="5654075"/>
                <a:ext cx="86868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1E29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2908575" y="5650050"/>
                <a:ext cx="72147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11918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79" name="Google Shape;179;p20"/>
            <p:cNvSpPr txBox="1"/>
            <p:nvPr/>
          </p:nvSpPr>
          <p:spPr>
            <a:xfrm>
              <a:off x="9570500" y="2470188"/>
              <a:ext cx="63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83%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107625" y="2508288"/>
              <a:ext cx="1624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Budynek D-20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1107625" y="2913900"/>
            <a:ext cx="10569050" cy="400200"/>
            <a:chOff x="1107625" y="2913900"/>
            <a:chExt cx="10569050" cy="400200"/>
          </a:xfrm>
        </p:grpSpPr>
        <p:grpSp>
          <p:nvGrpSpPr>
            <p:cNvPr id="182" name="Google Shape;182;p20"/>
            <p:cNvGrpSpPr/>
            <p:nvPr/>
          </p:nvGrpSpPr>
          <p:grpSpPr>
            <a:xfrm>
              <a:off x="2989875" y="2953963"/>
              <a:ext cx="8686800" cy="320100"/>
              <a:chOff x="2989875" y="1039875"/>
              <a:chExt cx="8686800" cy="320100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2989875" y="1039875"/>
                <a:ext cx="86868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1E29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2989875" y="1039875"/>
                <a:ext cx="68580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11918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85" name="Google Shape;185;p20"/>
            <p:cNvSpPr txBox="1"/>
            <p:nvPr/>
          </p:nvSpPr>
          <p:spPr>
            <a:xfrm>
              <a:off x="9196900" y="2913900"/>
              <a:ext cx="63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79</a:t>
              </a: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%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1107625" y="2952013"/>
              <a:ext cx="1624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Budynek C-13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1107625" y="3355588"/>
            <a:ext cx="10569050" cy="400200"/>
            <a:chOff x="1107625" y="3355588"/>
            <a:chExt cx="10569050" cy="400200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2989875" y="3395638"/>
              <a:ext cx="8686800" cy="320113"/>
              <a:chOff x="2989875" y="1469263"/>
              <a:chExt cx="8686800" cy="320113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2989875" y="1469275"/>
                <a:ext cx="86868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1E29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2989875" y="1469263"/>
                <a:ext cx="49560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D579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91" name="Google Shape;191;p20"/>
            <p:cNvSpPr txBox="1"/>
            <p:nvPr/>
          </p:nvSpPr>
          <p:spPr>
            <a:xfrm>
              <a:off x="7302125" y="3355588"/>
              <a:ext cx="63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57</a:t>
              </a: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%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1107625" y="3393688"/>
              <a:ext cx="1624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Budynek H-6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93" name="Google Shape;193;p20"/>
          <p:cNvGrpSpPr/>
          <p:nvPr/>
        </p:nvGrpSpPr>
        <p:grpSpPr>
          <a:xfrm>
            <a:off x="1107625" y="3803904"/>
            <a:ext cx="10569050" cy="400200"/>
            <a:chOff x="1107625" y="3803904"/>
            <a:chExt cx="10569050" cy="400200"/>
          </a:xfrm>
        </p:grpSpPr>
        <p:grpSp>
          <p:nvGrpSpPr>
            <p:cNvPr id="194" name="Google Shape;194;p20"/>
            <p:cNvGrpSpPr/>
            <p:nvPr/>
          </p:nvGrpSpPr>
          <p:grpSpPr>
            <a:xfrm>
              <a:off x="2989875" y="3837325"/>
              <a:ext cx="8686800" cy="320100"/>
              <a:chOff x="2908575" y="1898675"/>
              <a:chExt cx="8686800" cy="320100"/>
            </a:xfrm>
          </p:grpSpPr>
          <p:sp>
            <p:nvSpPr>
              <p:cNvPr id="195" name="Google Shape;195;p20"/>
              <p:cNvSpPr/>
              <p:nvPr/>
            </p:nvSpPr>
            <p:spPr>
              <a:xfrm>
                <a:off x="2908575" y="1898675"/>
                <a:ext cx="86868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1E29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6" name="Google Shape;196;p20"/>
              <p:cNvSpPr/>
              <p:nvPr/>
            </p:nvSpPr>
            <p:spPr>
              <a:xfrm>
                <a:off x="2908575" y="1898675"/>
                <a:ext cx="3566100" cy="320100"/>
              </a:xfrm>
              <a:prstGeom prst="roundRect">
                <a:avLst>
                  <a:gd fmla="val 16667" name="adj"/>
                </a:avLst>
              </a:prstGeom>
              <a:solidFill>
                <a:srgbClr val="D531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97" name="Google Shape;197;p20"/>
            <p:cNvSpPr txBox="1"/>
            <p:nvPr/>
          </p:nvSpPr>
          <p:spPr>
            <a:xfrm>
              <a:off x="5919150" y="3803904"/>
              <a:ext cx="63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41</a:t>
              </a: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%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1107625" y="3824200"/>
              <a:ext cx="1624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Budynek C-18</a:t>
              </a:r>
              <a:endParaRPr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581025" y="1341325"/>
            <a:ext cx="5324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PRZYCZYNY I WĄSKIE GARDŁA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4" name="Google Shape;204;p21"/>
          <p:cNvGrpSpPr/>
          <p:nvPr/>
        </p:nvGrpSpPr>
        <p:grpSpPr>
          <a:xfrm>
            <a:off x="580913" y="1960500"/>
            <a:ext cx="5324625" cy="1235100"/>
            <a:chOff x="581025" y="2300275"/>
            <a:chExt cx="5324625" cy="1235100"/>
          </a:xfrm>
        </p:grpSpPr>
        <p:sp>
          <p:nvSpPr>
            <p:cNvPr id="205" name="Google Shape;205;p21"/>
            <p:cNvSpPr txBox="1"/>
            <p:nvPr/>
          </p:nvSpPr>
          <p:spPr>
            <a:xfrm>
              <a:off x="1009650" y="2300275"/>
              <a:ext cx="4896000" cy="12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Utrata kontekstu skali</a:t>
              </a: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Agresywne kadrowanie `RandomResizedCrop</a:t>
              </a:r>
              <a:r>
                <a:rPr lang="en-US" sz="15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`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dostarczało ciasne wycinki elewacji, przez co sieć gubiła globalną bryłę budynków.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06" name="Google Shape;20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1025" y="2300287"/>
              <a:ext cx="265176" cy="2791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21"/>
          <p:cNvGrpSpPr/>
          <p:nvPr/>
        </p:nvGrpSpPr>
        <p:grpSpPr>
          <a:xfrm>
            <a:off x="6395525" y="1936706"/>
            <a:ext cx="5324625" cy="1235100"/>
            <a:chOff x="581025" y="3069431"/>
            <a:chExt cx="5324625" cy="1235100"/>
          </a:xfrm>
        </p:grpSpPr>
        <p:sp>
          <p:nvSpPr>
            <p:cNvPr id="208" name="Google Shape;208;p21"/>
            <p:cNvSpPr txBox="1"/>
            <p:nvPr/>
          </p:nvSpPr>
          <p:spPr>
            <a:xfrm>
              <a:off x="1009650" y="3069431"/>
              <a:ext cx="4896000" cy="12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Wrażliwość na Occlusion</a:t>
              </a: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Zasłonięcie centralnej części kadru (np. dłonią do 35%) drastycznie odcinało wagi aktywacji modelu, paraliżując predykcję.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09" name="Google Shape;20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" y="3093243"/>
              <a:ext cx="265176" cy="2791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0" name="Google Shape;210;p21"/>
          <p:cNvGrpSpPr/>
          <p:nvPr/>
        </p:nvGrpSpPr>
        <p:grpSpPr>
          <a:xfrm>
            <a:off x="580913" y="3777087"/>
            <a:ext cx="5324625" cy="900300"/>
            <a:chOff x="581025" y="3862387"/>
            <a:chExt cx="5324625" cy="900300"/>
          </a:xfrm>
        </p:grpSpPr>
        <p:sp>
          <p:nvSpPr>
            <p:cNvPr id="211" name="Google Shape;211;p21"/>
            <p:cNvSpPr txBox="1"/>
            <p:nvPr/>
          </p:nvSpPr>
          <p:spPr>
            <a:xfrm>
              <a:off x="1009650" y="3862387"/>
              <a:ext cx="4896000" cy="9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Dystorsja i Szum Mory</a:t>
              </a: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Wyświetlanie spacerów 3D na monitorze LCD wprowadzało zniekształcenia, obniżając ufność Softmax do poziomu 60-69%.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12" name="Google Shape;212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1025" y="3886200"/>
              <a:ext cx="310896" cy="2590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" name="Google Shape;213;p21"/>
          <p:cNvGrpSpPr/>
          <p:nvPr/>
        </p:nvGrpSpPr>
        <p:grpSpPr>
          <a:xfrm>
            <a:off x="6395525" y="3777068"/>
            <a:ext cx="5324625" cy="1235100"/>
            <a:chOff x="581025" y="4655343"/>
            <a:chExt cx="5324625" cy="1235100"/>
          </a:xfrm>
        </p:grpSpPr>
        <p:sp>
          <p:nvSpPr>
            <p:cNvPr id="214" name="Google Shape;214;p21"/>
            <p:cNvSpPr txBox="1"/>
            <p:nvPr/>
          </p:nvSpPr>
          <p:spPr>
            <a:xfrm>
              <a:off x="1009650" y="4655343"/>
              <a:ext cx="4896000" cy="12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Opóźnienie Sieciowe</a:t>
              </a: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Sama inferencja na GPU CUDA trwa poniżej 5-20 ms, ale przesył klatki przez HTTP POST `multipart/form-data` zwiększa latency do 42-115 ms.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15" name="Google Shape;215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1025" y="4679156"/>
              <a:ext cx="310896" cy="259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1"/>
          <p:cNvSpPr txBox="1"/>
          <p:nvPr/>
        </p:nvSpPr>
        <p:spPr>
          <a:xfrm>
            <a:off x="581025" y="438150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Trudne Scenariusze i Przyczyny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/>
        </p:nvSpPr>
        <p:spPr>
          <a:xfrm>
            <a:off x="1943375" y="2055425"/>
            <a:ext cx="819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Zaimplementowany system wykazuje umiarkowaną przydatność w warunkach rzeczywistych, stanowiąc stabilny prototyp inżynierski o wysokiej selektywności dla budynków o unikalnej architekturze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81025" y="48577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Konfrontacja Pierwotnych Założeń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845799" y="5269825"/>
            <a:ext cx="490200" cy="454200"/>
          </a:xfrm>
          <a:prstGeom prst="rect">
            <a:avLst/>
          </a:prstGeom>
          <a:solidFill>
            <a:srgbClr val="6AA84F"/>
          </a:solidFill>
          <a:ln cap="flat" cmpd="sng" w="126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625" lIns="121625" spcFirstLastPara="1" rIns="121625" wrap="square" tIns="12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2"/>
          <p:cNvSpPr/>
          <p:nvPr/>
        </p:nvSpPr>
        <p:spPr>
          <a:xfrm rot="-2262623">
            <a:off x="5482730" y="4663249"/>
            <a:ext cx="421305" cy="1040947"/>
          </a:xfrm>
          <a:prstGeom prst="rect">
            <a:avLst/>
          </a:prstGeom>
          <a:solidFill>
            <a:srgbClr val="6AA84F"/>
          </a:solidFill>
          <a:ln cap="flat" cmpd="sng" w="126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625" lIns="121625" spcFirstLastPara="1" rIns="121625" wrap="square" tIns="12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3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2"/>
          <p:cNvSpPr/>
          <p:nvPr/>
        </p:nvSpPr>
        <p:spPr>
          <a:xfrm rot="784581">
            <a:off x="6158966" y="3728938"/>
            <a:ext cx="425637" cy="1972876"/>
          </a:xfrm>
          <a:prstGeom prst="rect">
            <a:avLst/>
          </a:prstGeom>
          <a:solidFill>
            <a:srgbClr val="6AA84F"/>
          </a:solidFill>
          <a:ln cap="flat" cmpd="sng" w="126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625" lIns="121625" spcFirstLastPara="1" rIns="121625" wrap="square" tIns="12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3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3"/>
          <p:cNvGrpSpPr/>
          <p:nvPr/>
        </p:nvGrpSpPr>
        <p:grpSpPr>
          <a:xfrm>
            <a:off x="581025" y="1627632"/>
            <a:ext cx="11030025" cy="577200"/>
            <a:chOff x="581025" y="1627632"/>
            <a:chExt cx="11030025" cy="577200"/>
          </a:xfrm>
        </p:grpSpPr>
        <p:sp>
          <p:nvSpPr>
            <p:cNvPr id="232" name="Google Shape;232;p23"/>
            <p:cNvSpPr txBox="1"/>
            <p:nvPr/>
          </p:nvSpPr>
          <p:spPr>
            <a:xfrm>
              <a:off x="1009650" y="1627632"/>
              <a:ext cx="106014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Korelacja z sensorem GPS</a:t>
              </a:r>
              <a:r>
                <a:rPr b="1" lang="en-US" sz="15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Wykorzystanie nawet zgrubnych współrzędnych do dynamicznego nałożenia maski Softmax, co całkowicie wyeliminuje pomyłki podobnych elewacji w odległych częściach kampusu.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33" name="Google Shape;23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" y="1755648"/>
              <a:ext cx="283464" cy="2903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23"/>
          <p:cNvGrpSpPr/>
          <p:nvPr/>
        </p:nvGrpSpPr>
        <p:grpSpPr>
          <a:xfrm>
            <a:off x="581025" y="2551176"/>
            <a:ext cx="11030025" cy="577200"/>
            <a:chOff x="581025" y="3100387"/>
            <a:chExt cx="11030025" cy="577200"/>
          </a:xfrm>
        </p:grpSpPr>
        <p:sp>
          <p:nvSpPr>
            <p:cNvPr id="235" name="Google Shape;235;p23"/>
            <p:cNvSpPr txBox="1"/>
            <p:nvPr/>
          </p:nvSpPr>
          <p:spPr>
            <a:xfrm>
              <a:off x="1009650" y="3100387"/>
              <a:ext cx="106014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Architektura Vision Transformer (ViT)</a:t>
              </a:r>
              <a:r>
                <a:rPr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Zastąpienie sieci SimpleModel modelami z mechanizmem uwagi (Self-Attention) w celu skuteczniejszego uczenia relacji przestrzennych gmachów.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36" name="Google Shape;236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1025" y="3228403"/>
              <a:ext cx="283464" cy="2969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23"/>
          <p:cNvGrpSpPr/>
          <p:nvPr/>
        </p:nvGrpSpPr>
        <p:grpSpPr>
          <a:xfrm>
            <a:off x="581025" y="3383280"/>
            <a:ext cx="11030025" cy="577200"/>
            <a:chOff x="581025" y="3748087"/>
            <a:chExt cx="11030025" cy="577200"/>
          </a:xfrm>
        </p:grpSpPr>
        <p:sp>
          <p:nvSpPr>
            <p:cNvPr id="238" name="Google Shape;238;p23"/>
            <p:cNvSpPr txBox="1"/>
            <p:nvPr/>
          </p:nvSpPr>
          <p:spPr>
            <a:xfrm>
              <a:off x="1009650" y="3748087"/>
              <a:ext cx="106014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Temporal Pooling (Agregacja w czasie):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Analiza okna czasowego (średnia z 5 klatek wideo) po stronie klienta mobilnego zapobiegająca "migotaniu" predykcji.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39" name="Google Shape;23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1025" y="3876103"/>
              <a:ext cx="283464" cy="2969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" name="Google Shape;240;p23"/>
          <p:cNvGrpSpPr/>
          <p:nvPr/>
        </p:nvGrpSpPr>
        <p:grpSpPr>
          <a:xfrm>
            <a:off x="581025" y="4215384"/>
            <a:ext cx="11030025" cy="577200"/>
            <a:chOff x="581025" y="4395787"/>
            <a:chExt cx="11030025" cy="577200"/>
          </a:xfrm>
        </p:grpSpPr>
        <p:sp>
          <p:nvSpPr>
            <p:cNvPr id="241" name="Google Shape;241;p23"/>
            <p:cNvSpPr txBox="1"/>
            <p:nvPr/>
          </p:nvSpPr>
          <p:spPr>
            <a:xfrm>
              <a:off x="1009650" y="4395787"/>
              <a:ext cx="106014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Rozbudowa bazy o warunki skrajne:</a:t>
              </a:r>
              <a:r>
                <a:rPr b="1"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i="0" lang="en-US" sz="1500" u="none" cap="none" strike="noStrike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Dołączenie ujęć nocnych, zimowych (brak liści przysłaniających fasadę) oraz silnych fluktuacji nasłonecznienia.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descr="image.png" id="242" name="Google Shape;242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81025" y="4523803"/>
              <a:ext cx="265176" cy="307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" name="Google Shape;243;p23"/>
          <p:cNvSpPr txBox="1"/>
          <p:nvPr/>
        </p:nvSpPr>
        <p:spPr>
          <a:xfrm>
            <a:off x="581025" y="48577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Kierunki Rozwoju i Przyszłość</a:t>
            </a:r>
            <a:endParaRPr b="1" sz="36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2540555" y="2462212"/>
            <a:ext cx="7110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Pytania</a:t>
            </a:r>
            <a:r>
              <a:rPr b="1" lang="en-US" sz="37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235600" y="3429000"/>
            <a:ext cx="772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Dziękujemy za uwagę</a:t>
            </a:r>
            <a:r>
              <a:rPr lang="en-US" sz="2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sz="2400"/>
          </a:p>
        </p:txBody>
      </p:sp>
      <p:sp>
        <p:nvSpPr>
          <p:cNvPr id="251" name="Google Shape;251;p24"/>
          <p:cNvSpPr/>
          <p:nvPr/>
        </p:nvSpPr>
        <p:spPr>
          <a:xfrm>
            <a:off x="2103120" y="4480560"/>
            <a:ext cx="7982700" cy="381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